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8" r:id="rId2"/>
    <p:sldId id="525" r:id="rId3"/>
    <p:sldId id="526" r:id="rId4"/>
    <p:sldId id="564" r:id="rId5"/>
    <p:sldId id="551" r:id="rId6"/>
    <p:sldId id="527" r:id="rId7"/>
    <p:sldId id="528" r:id="rId8"/>
    <p:sldId id="529" r:id="rId9"/>
    <p:sldId id="552" r:id="rId10"/>
    <p:sldId id="530" r:id="rId11"/>
    <p:sldId id="532" r:id="rId12"/>
    <p:sldId id="554" r:id="rId13"/>
    <p:sldId id="531" r:id="rId14"/>
    <p:sldId id="553" r:id="rId15"/>
    <p:sldId id="555" r:id="rId16"/>
    <p:sldId id="556" r:id="rId17"/>
    <p:sldId id="557" r:id="rId18"/>
    <p:sldId id="558" r:id="rId19"/>
    <p:sldId id="533" r:id="rId20"/>
    <p:sldId id="559" r:id="rId21"/>
    <p:sldId id="534" r:id="rId22"/>
    <p:sldId id="535" r:id="rId23"/>
    <p:sldId id="560" r:id="rId24"/>
    <p:sldId id="561" r:id="rId25"/>
    <p:sldId id="562" r:id="rId26"/>
    <p:sldId id="563" r:id="rId27"/>
    <p:sldId id="536" r:id="rId28"/>
    <p:sldId id="537" r:id="rId29"/>
    <p:sldId id="538" r:id="rId30"/>
    <p:sldId id="539" r:id="rId31"/>
    <p:sldId id="540" r:id="rId32"/>
    <p:sldId id="55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0"/>
    <p:restoredTop sz="81468"/>
  </p:normalViewPr>
  <p:slideViewPr>
    <p:cSldViewPr snapToGrid="0">
      <p:cViewPr>
        <p:scale>
          <a:sx n="80" d="100"/>
          <a:sy n="80" d="100"/>
        </p:scale>
        <p:origin x="75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7D788-BFA1-4F43-9745-1DE168951A46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1E644-48F9-9543-9FBB-4B808E91E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998D-7161-D4F2-E5B3-CACF126C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D7668-30C0-701D-94EF-BE5F3D2C7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F0A84-1669-AD38-BDB2-3AE1F350F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D5AC0-78FF-DBA2-09E5-285772358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04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81BA0-3AD5-AA41-C724-4F775DE5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6801A-D0F7-443E-BBF7-B38EF62D9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3FB39-4839-BAF8-DECD-F14490A41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0B1AD-6671-3D94-2831-590712746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70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339F-CC10-D4B9-812D-D24522DD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81E00-152B-1F42-5B27-83ADCE7FA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8BDFC-973C-F7BE-369D-C938A0B02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B5B99-0C6F-5F4A-31C8-EA32D9758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84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35A3-6998-D98B-3DEA-3AA1C936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EFCB5-9A93-55A2-0B0A-07304E357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9BACC-407C-8C8D-4614-468EAE983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E8112-B642-E7BD-4ECD-0A2477F67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80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4F74-443A-3D84-8455-E1C537C5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50678-C822-DE8B-7755-FEB73DF1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7E815-41EA-7C49-BEC7-3FA774191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74E8C-E27C-074D-6B33-A1C298A04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72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C191-0CA5-1E37-F5C6-B5C7A42A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369E6-6AB8-42B8-A4BC-9736C36D5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C2F2C-0505-B304-AC5D-64E975C68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Tags come in pairs, opening and closing tags (</a:t>
            </a:r>
            <a:r>
              <a:rPr lang="en-US" dirty="0" err="1"/>
              <a:t>eg</a:t>
            </a:r>
            <a:r>
              <a:rPr lang="en-US" dirty="0"/>
              <a:t> &lt;head&gt;)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22FFE-D24F-BE80-B63C-068E14C22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0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6EF2-57EB-DD78-174E-6DBAD0DE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A9297-E5DB-73B8-C4EB-02DED6D4E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5754D-AB23-0ECA-60FF-010B2365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Div element has no attributes, so the only way to identify it is via the div tag name. this is a problem when you have multiple of the same element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can give the element a unique ID. Each element can only have a single ID, and each ID can only be used once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Class attributes can be used on any number of elements, and you can assign multiple classes to one element. Useful for styling with CSS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2D5A1-82FA-0DAB-43EE-D534C8AB2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23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B877-C411-AC48-F007-C932E8B8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1CAD3-C3C9-91F2-5884-0675ECB2A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FD334-8011-EEC2-3A9A-239ACD213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Div element has no attributes, so the only way to identify it is via the div tag name. this is a problem when you have multiple of the same element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can give the element a unique ID. Each element can only have a single ID, and each ID can only be used once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Class attributes can be used on any number of elements, and you can assign multiple classes to one element. Useful for styling with CSS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A3AA3-A341-EE3D-BC14-FEA332577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55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49369-0FAE-19A7-3D1B-AB996C5C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E3AFE-6F7B-1FA6-830F-07C9D6322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C7098-A142-F649-308F-FEC99791B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50DE9-E860-D045-53E6-C14CE0683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88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7AAF-8071-85DF-0443-231E5040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C0B09-9370-8C84-B27C-4E24BBCCE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B36D0-25A3-988B-3C91-10BCD2270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302FD-B6C0-CEF7-449C-3A23B3E41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79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8A6A-7015-961B-170F-34A45BBC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DCEC8-B77D-31AD-D792-A066CC0F9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13B15-8118-A064-E77E-5BD1FA04F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FF951-730D-A0FF-EE3E-1565D229F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94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AE7F-BB3B-3284-8AF9-46DFD9F1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DEB32-E2F4-7B61-96A8-8C3FB93DA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69915-6549-B039-351F-03B605BA3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B53B8-06AB-D707-4D88-4E0EB8291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17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E729-A899-BC09-EAEB-D00C96A1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0DB86-9F61-CEEE-06F2-D67BCCA57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B5EC4-185A-D818-51BA-068ABC4F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Type these into your console line by line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const: it locks the variable so it can't be reassigned. Whatever is stored in the variable can be modified </a:t>
            </a:r>
          </a:p>
          <a:p>
            <a:pPr marL="171450" indent="-171450">
              <a:buFontTx/>
              <a:buChar char="-"/>
            </a:pPr>
            <a:r>
              <a:rPr lang="en-US" dirty="0"/>
              <a:t>Loosely typed means the type can 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7E826-D581-420A-C41F-678A8F9AB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A9E62-CD22-8539-A926-E682B200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6055C-0A96-6FCA-2DB7-FB9CF1F78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78E3F-7BD8-9834-23B5-121234324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389F2-03AB-B45C-0D7B-E5B7C44A1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39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D0C1-F2BA-233C-934B-7915BD30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4FA9E-63B1-6ED1-8789-7E4DD88AE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C20F5-B1DF-CCF2-60D4-480798657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Can define functions in 3 different ways. Arrow notation is very common in d3, takes some time to get used to</a:t>
            </a:r>
          </a:p>
          <a:p>
            <a:pPr marL="171450" indent="-171450">
              <a:buFontTx/>
              <a:buChar char="-"/>
            </a:pPr>
            <a:r>
              <a:rPr lang="en-US" dirty="0"/>
              <a:t>Can store a function in a variable and then use that variable later to invoke the function.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Can usually achieve the same effect with an in-line arrow function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Braces make a code block, which requires a return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0D440-02C0-E252-4DED-ADB861BAD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5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C6E1-57C4-C0C8-A436-60CF91B7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C0EE5-26AC-5B4C-EC73-5457C17F9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22C2B-BA49-957F-62E7-6D240A263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Map applies a function to all items in the array and returns the result in a new array</a:t>
            </a:r>
          </a:p>
          <a:p>
            <a:pPr marL="171450" indent="-171450">
              <a:buFontTx/>
              <a:buChar char="-"/>
            </a:pPr>
            <a:r>
              <a:rPr lang="en-US" dirty="0"/>
              <a:t>Filter returns only the elements in an array for which a condition was true</a:t>
            </a:r>
          </a:p>
          <a:p>
            <a:pPr marL="171450" indent="-171450">
              <a:buFontTx/>
              <a:buChar char="-"/>
            </a:pPr>
            <a:r>
              <a:rPr lang="en-US" dirty="0"/>
              <a:t>Sort allows you to sort an array in place (doesn’t make a new array)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forEach</a:t>
            </a:r>
            <a:r>
              <a:rPr lang="en-US" dirty="0"/>
              <a:t> loops over each value in the array and does some operation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All four of these take in a function as an argument, which is why arrow notation is so helpful</a:t>
            </a:r>
          </a:p>
          <a:p>
            <a:pPr marL="171450" indent="-171450">
              <a:buFontTx/>
              <a:buChar char="-"/>
            </a:pPr>
            <a:r>
              <a:rPr lang="en-US" dirty="0"/>
              <a:t>Max, mean, and extent all come from D3 and they have a similar structure (require an array and a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3838D-5561-4706-0CFE-2ECD7708F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07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AF9D-AA30-93F1-52EC-889E2092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BE7F2-43DA-0919-1E78-069DADCC6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45FEC-E0BA-2CD4-5F92-DB3E52166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2B3E1-EA19-B8BE-B199-AE79746CE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80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D94A-43B5-0653-AB1D-1F8144E8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4C7C-82E9-6091-80D3-341528624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1EDA1-BC10-2B4D-8E28-61D546407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sandwiches.filter</a:t>
            </a:r>
            <a:r>
              <a:rPr lang="en-US" dirty="0"/>
              <a:t>(d =&gt; </a:t>
            </a:r>
            <a:r>
              <a:rPr lang="en-US" dirty="0" err="1"/>
              <a:t>d.size</a:t>
            </a:r>
            <a:r>
              <a:rPr lang="en-US" dirty="0"/>
              <a:t> === "large").map(d =&gt; </a:t>
            </a:r>
            <a:r>
              <a:rPr lang="en-US" dirty="0" err="1"/>
              <a:t>d.name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dirty="0"/>
              <a:t>d3.mean(sandwiches, d =&gt; </a:t>
            </a:r>
            <a:r>
              <a:rPr lang="en-US" dirty="0" err="1"/>
              <a:t>d.price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sandwiches.sort</a:t>
            </a:r>
            <a:r>
              <a:rPr lang="en-US" dirty="0"/>
              <a:t>((a, b) =&gt; </a:t>
            </a:r>
            <a:r>
              <a:rPr lang="en-US" dirty="0" err="1"/>
              <a:t>b.price</a:t>
            </a:r>
            <a:r>
              <a:rPr lang="en-US" dirty="0"/>
              <a:t> - </a:t>
            </a:r>
            <a:r>
              <a:rPr lang="en-US" dirty="0" err="1"/>
              <a:t>a.price</a:t>
            </a:r>
            <a:r>
              <a:rPr lang="en-US" dirty="0"/>
              <a:t>).map(d =&gt; </a:t>
            </a:r>
            <a:r>
              <a:rPr lang="en-US" dirty="0" err="1"/>
              <a:t>console.log</a:t>
            </a:r>
            <a:r>
              <a:rPr lang="en-US" dirty="0"/>
              <a:t>(</a:t>
            </a:r>
            <a:r>
              <a:rPr lang="en-US" dirty="0" err="1"/>
              <a:t>d.name</a:t>
            </a:r>
            <a:r>
              <a:rPr lang="en-US" dirty="0"/>
              <a:t>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37C30-AFEF-8FFB-C4FE-CEA940129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41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F49C-3F01-5743-3345-7ECF929F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D8F55-308F-F04D-D823-F332B7B6D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A4FB7-A32A-D5EC-69DB-CEF860D6E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112B4-9806-F598-2DEF-D4E59DD22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4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23D-BBE0-16E2-CC9D-484676DA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8878E-0593-786E-F362-90C9BD615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AEC37-1994-50F7-B7BC-8B69692A4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CE072-ED2D-9676-48C4-FF53C5AAD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471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C52B-4832-70A1-49DC-BD349D11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0E295-838C-72A2-964E-6AD25FADA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06607-3864-D764-8289-FD1AEDB20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dirty="0"/>
              <a:t>(0,0) is the top-left. y grows downward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Order in the file determines the layering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E15FD-EF64-4C84-7537-ABFC54890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2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9012-C5C3-A5A5-89B4-17429575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3DBD8-B53D-867E-B47F-4226BFE10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EF1D1-8450-60F0-798A-793FF64C1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7109C-11F6-603D-A7E9-1A1C419BC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88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88F0-4358-8FAA-9171-3BF4D343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2E66D-DD24-B11F-0D79-BD8A15E41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1D4EC-D5D9-8414-E037-9EC5C117B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group has its own origin in the top left corner!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10E8D-14C1-9919-2A44-61F72F732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35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6E92-72BF-0BEF-5829-CB6CD942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41459-9E13-F5A6-D507-0FD8FB58D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39560-ACEB-BC91-0002-602D4104F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6BF8B-C6C1-4179-FC08-BAAC767E9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6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BCA6-C0FF-4850-2A1E-37DE9044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9BC44-DC44-C9CC-DACE-CE4ED86E8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6B6A5-789F-BED0-50B5-D81A57491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C29F4-E1F7-1F4B-BAC8-355FBB5EB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647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0838-1A66-D7DF-C56A-B37D9670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3290D-70EB-809A-FCB2-DA178A4ED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48BB0-C81D-FF62-A6BD-57A0CB3A6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98074-91DC-6469-39D6-9026223B2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5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A7F9-1723-6DB0-6E82-A6CB94FC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4F924-F021-2B01-AC4C-0F937F662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8FC54-9CDD-16E1-182F-3E305E48D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379D9-24DC-D414-979F-8E7AC7048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08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0ECF5-BCE4-4001-615D-ED280329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5B5AA-B0F1-B347-C246-8C40712AF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E1919-EF6D-CF0A-4A93-BDB44B311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"of the paragraphs in body (there are none yet) I want one per province. Create that many paragraph elements."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selectAll</a:t>
            </a:r>
            <a:r>
              <a:rPr lang="en-US" dirty="0"/>
              <a:t> selects things that do not exist yet, </a:t>
            </a:r>
            <a:r>
              <a:rPr lang="en-US" dirty="0" err="1"/>
              <a:t>kinda</a:t>
            </a:r>
            <a:r>
              <a:rPr lang="en-US" dirty="0"/>
              <a:t> weird but correct. </a:t>
            </a:r>
          </a:p>
          <a:p>
            <a:pPr marL="171450" indent="-171450">
              <a:buFontTx/>
              <a:buChar char="-"/>
            </a:pPr>
            <a:r>
              <a:rPr lang="en-US" dirty="0"/>
              <a:t>data determines how many there should be.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join makes that many elements (</a:t>
            </a:r>
            <a:r>
              <a:rPr lang="en-US" dirty="0" err="1"/>
              <a:t>ie</a:t>
            </a:r>
            <a:r>
              <a:rPr lang="en-US" dirty="0"/>
              <a:t> the number of items in data()'s argument). It creates what is missing, removes what is extra, and keeps the rest.</a:t>
            </a:r>
          </a:p>
          <a:p>
            <a:pPr marL="171450" indent="-171450">
              <a:buFontTx/>
              <a:buChar char="-"/>
            </a:pPr>
            <a:r>
              <a:rPr lang="en-US" dirty="0"/>
              <a:t>everything after .join() runs once per element with that element's own row from the input array (from data()) handed to your arrow function as d.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C8378-127F-2ACA-6ECD-5194B1B0C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00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DDD4-EB87-4A9D-0A19-BD7A1B50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85853-4F70-EF8A-CA9D-4C5C985B8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BA40D-F238-8983-DB36-362456332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D06D1-5C9C-2AD7-7993-5001028DC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275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0157-A54A-3052-AA47-F7806F26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E0D1D-BE8A-BEAF-4AED-1E907F51B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44975-3C9D-17E9-19DF-3938EFD26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D7ABE-2A5A-20F6-46E5-3FCC3AA48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767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9391-2A45-7D95-54DD-846D0277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05888-03ED-6F00-A9B1-D3531E443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4A966-C43F-0E35-F676-920F0E2E3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EBB7F-EBFC-238C-6341-717CE604C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BAD-210B-4BCB-ADC5-172F4BC0A4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3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CB15-810E-C6C1-4C2B-4A34D94EC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64D2A-0050-9245-8354-C2197D8EF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1B3A8-16FE-AE85-F409-A8676CC4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3AEA0-97E8-F1B8-CD1E-EA616C7B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BCEA1-0F31-5488-C6D4-90D4B846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0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BD78-C738-FFAE-5BE2-9A58608B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073BA-BB11-B6F4-62D8-BCA0C11E6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F542-7B40-23ED-F5C3-80EC85B5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5FED8-7261-A9B4-9F63-A08E9413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82754-55DC-5088-6833-30D62204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7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783A-0665-FADE-8B9C-B7118CB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18F9-5E44-197E-A0D5-952F6766F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5D2B4-A575-D23C-149D-A7F20CD1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B2F57-C685-92CC-6CA4-D26E878F9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53E27-8338-D4D7-D87C-55E6ED74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6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1F53-E84B-20C8-14F2-F26EB04A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E46C-FD5C-9986-20C9-1E35E3C8A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27D98-F6C6-E18A-2AA3-99C213A86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146BB-8396-F617-3C0E-1D8FD7AC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15AE5-6928-81FC-B05E-3CDACFC8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A4A81-4232-8ACE-148C-D6562691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E522-A424-C2EA-F669-7D0A758A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D371F-63A8-B440-8C4E-7F05D4E1A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5DFCD-970A-163E-7D5C-A06FB2123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9CB4B-6D0C-F366-C08F-87E9E695D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4F7B3-3DCF-B550-685E-AB9F85DC8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0C68D-7D33-C1FC-6895-0FAD95B4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6CFF44-6D41-C4CA-98AE-FC2C56B9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50E0E-8125-3DD7-A29F-EE4007AB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97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6471-3D3F-5B4A-5469-C64D3339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69C66-A7EA-E32A-4AD6-7DF35A4A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DF364-CEE7-44BE-A551-8AEF344C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A092D-2AF1-0330-6864-1523CC70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6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86667F-0D4B-5C43-6928-59D4217C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1DEB5-1020-4128-E860-13193648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7366-9574-EA60-ECD5-383A6850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6300-8FF5-3E1F-8118-021D1CC0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676D-8858-1D25-8C85-9D4DBA00A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70EB8-E573-5C5D-A13E-D4CF00E87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56100-3F98-B0C1-A9BE-EE8DD02F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6B05D-5891-55EB-01C9-550EC821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C3D07-1788-0CE4-A45F-8F169466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6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7E81-E311-4A13-1A3E-5566298C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D7D04-A0E0-918B-2706-C4EF74503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9DECB-38F3-64C4-329C-17720A4A4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E9F98-61DF-7AF2-7B2B-1DB13213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7FCE8-B705-6D9F-21E9-9BC38523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139C4-9C90-45C7-B48F-D1526435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0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FD4E-75DD-5C01-4548-C7AC8AB0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D6311-53D4-5FB0-7B28-0A7BE2867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C6ABA-90F5-0EE3-B1EB-9592A5F57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7DDA9-60BF-C72D-86F1-CB2301A1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5B52-F449-5E9A-1E38-DD690734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4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39DA6-8396-38B7-7AC1-DA6027E05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372A3-3600-BFF9-DCCD-6E1550FB4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05D3-A3A4-C497-6DF5-3D19EB6A7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4E3D0-27E4-2564-334C-B1813B12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1E96-0419-66B0-7E75-C63BD96C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0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C99D-DE26-59BD-AFC1-BD6A96F6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27D87-E3CB-CC59-20D0-DB63B23E5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76EA2-F3B6-D971-976C-643C57CFB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A81ED-9C83-DF4F-B38A-5C4375B85F9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413FE-3EF0-A0BC-91E2-A0158B988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9294D-7591-4B24-057C-57C0FA650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E9570-643D-E545-935B-E2479515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4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bservablehq.com/@d3/galle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hello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index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svg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3js.org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hyperlink" Target="https://www.d3indepth.com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index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74549-3651-23B1-F309-CD4D5CB8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93906"/>
          </a:xfrm>
          <a:prstGeom prst="rect">
            <a:avLst/>
          </a:prstGeom>
        </p:spPr>
      </p:pic>
      <p:sp>
        <p:nvSpPr>
          <p:cNvPr id="12" name="Google Shape;95;p18">
            <a:extLst>
              <a:ext uri="{FF2B5EF4-FFF2-40B4-BE49-F238E27FC236}">
                <a16:creationId xmlns:a16="http://schemas.microsoft.com/office/drawing/2014/main" id="{233E1D22-34B3-6397-AEDA-3D0DFDB254B4}"/>
              </a:ext>
            </a:extLst>
          </p:cNvPr>
          <p:cNvSpPr txBox="1">
            <a:spLocks/>
          </p:cNvSpPr>
          <p:nvPr/>
        </p:nvSpPr>
        <p:spPr>
          <a:xfrm>
            <a:off x="1206800" y="2365600"/>
            <a:ext cx="9778400" cy="21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2"/>
                </a:solidFill>
              </a:rPr>
              <a:t>COMS BC3122: </a:t>
            </a:r>
            <a:br>
              <a:rPr lang="en-US" b="1" dirty="0">
                <a:solidFill>
                  <a:schemeClr val="bg2"/>
                </a:solidFill>
              </a:rPr>
            </a:br>
            <a:r>
              <a:rPr lang="en-US" b="1" dirty="0">
                <a:solidFill>
                  <a:schemeClr val="bg2"/>
                </a:solidFill>
              </a:rPr>
              <a:t>Data Visualization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AB1716F-E8B9-5290-33C6-CA2F09C57FCD}"/>
              </a:ext>
            </a:extLst>
          </p:cNvPr>
          <p:cNvSpPr txBox="1">
            <a:spLocks/>
          </p:cNvSpPr>
          <p:nvPr/>
        </p:nvSpPr>
        <p:spPr>
          <a:xfrm>
            <a:off x="1524000" y="4267560"/>
            <a:ext cx="9144000" cy="13146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2"/>
                </a:solidFill>
              </a:rPr>
              <a:t>9/16/2026</a:t>
            </a:r>
          </a:p>
        </p:txBody>
      </p:sp>
    </p:spTree>
    <p:extLst>
      <p:ext uri="{BB962C8B-B14F-4D97-AF65-F5344CB8AC3E}">
        <p14:creationId xmlns:p14="http://schemas.microsoft.com/office/powerpoint/2010/main" val="169170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2AF72A-698D-AA8F-3762-BF12E111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F43F856-D137-8E8F-A633-8547BC59FEB5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err="1"/>
              <a:t>todo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E8CCD16-C790-A33A-0C9D-CF8CB2E09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Todo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28243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C45C-0939-CE12-6DAA-72302CAE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9859B8-EE39-F3DF-0108-F3774C011C2D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Logistics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22EC39D-D4A3-7755-B574-D071218B2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Assignment 1 releases later today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Office hours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Mon 3pm – 4pm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Tues 2pm – 4pm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Thurs 10am – 12pm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61932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3020-F9F1-9782-8C63-59CBDACD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DF22840-2C35-4AFF-7C7A-5282EC25C45A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Viz of the day: D3 gallery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4487962-CD24-BA98-8BD9-B26FEF5C0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https://observablehq.com/@d3/gallery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4D64CD-2F58-8DA0-6CAA-5ECE91D89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737" y="1285630"/>
            <a:ext cx="8664525" cy="547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78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A13A-5535-4A34-B806-FE5CA994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36A118-7E99-A1C5-3349-BB3D5BBE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93906"/>
          </a:xfrm>
          <a:prstGeom prst="rect">
            <a:avLst/>
          </a:prstGeom>
        </p:spPr>
      </p:pic>
      <p:sp>
        <p:nvSpPr>
          <p:cNvPr id="12" name="Google Shape;95;p18">
            <a:extLst>
              <a:ext uri="{FF2B5EF4-FFF2-40B4-BE49-F238E27FC236}">
                <a16:creationId xmlns:a16="http://schemas.microsoft.com/office/drawing/2014/main" id="{CFDC6612-35AD-3648-5A03-1633949969A2}"/>
              </a:ext>
            </a:extLst>
          </p:cNvPr>
          <p:cNvSpPr txBox="1">
            <a:spLocks/>
          </p:cNvSpPr>
          <p:nvPr/>
        </p:nvSpPr>
        <p:spPr>
          <a:xfrm>
            <a:off x="1206800" y="2365600"/>
            <a:ext cx="9778400" cy="21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2"/>
                </a:solidFill>
              </a:rPr>
              <a:t>The web page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E0AE381-868A-F830-685F-B5D7D83D36DE}"/>
              </a:ext>
            </a:extLst>
          </p:cNvPr>
          <p:cNvSpPr txBox="1">
            <a:spLocks/>
          </p:cNvSpPr>
          <p:nvPr/>
        </p:nvSpPr>
        <p:spPr>
          <a:xfrm>
            <a:off x="1524000" y="4267560"/>
            <a:ext cx="9144000" cy="13146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36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585F-9818-3D25-BA62-4BD40D94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5F1E88E-F7AF-F25E-B422-3B8AF2C10DF3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Webpages are just files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6661A27-91BC-A12D-F3CF-983ED882A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Webpages consist of HTML, CSS, and JavaScript (JS)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HTML: Specifies the layout of elements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CSS: Specifies the appearance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JavaScript: Enables programmatic scripting (e.g. interaction, dynamic modification) of webpages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53972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1B6A-C9B3-E90F-BA2F-63C48A99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E97704-4154-00EA-32B2-8D88D82173D4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HTML (Hypertext Markup Language)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15D0E2D-E58A-BAEE-2647-3B4BD3302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7" y="905934"/>
            <a:ext cx="11057148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Used to structure the content of web pages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Allows us to differentiate between content and 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For this class, use simple boilerplate code for HTML setup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1DFF4-5730-7283-A4A2-21AC9F9BD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815" y="2180572"/>
            <a:ext cx="868801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3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24333-EB64-59D0-0F5E-743BBCAF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9A522B3-7CA9-026D-2FC8-D7DCBCFCA24A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HTML (Hypertext Markup Language)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A96778-13FE-97B6-1CAC-6D19584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Classes and IDs let us differentiate instances of the same element in the page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ID attributes are unique. One ID per element, can only be used once per page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Class attributes can be used any number of times, and elements can have multiple class attributes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5697E-0E2B-424E-CC39-2DB6C94A5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99" y="2859715"/>
            <a:ext cx="11285186" cy="212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3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1BCA-C835-C4DE-C33F-F427F1DEF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4F58548-2CD0-4368-128E-9979A113D3F5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DOM (Document Object Model)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8A66693-B2DC-84FC-B4B4-22731E2B5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5765801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hierarchical, tree-based representation of the web page document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Defines the way that structure can be accessed by programs (e.g. JavaScript)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Initially built from your HTML content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3D9062A-E907-45BC-C7E5-AC82C841C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360" y="905933"/>
            <a:ext cx="6302215" cy="559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8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5292-7454-DCE2-517A-EFA398432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7E7BD8-A9E6-09A6-D5C8-4AFE062A2F16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CSS: Appearance styling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8AB49C9-74B7-8659-2A52-CB369991C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5717890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Allows you to change the appearance of webpage elements that were defined by HTML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Usually a separate file, so it needs to be linked (like importing) in the HTML file: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There are tons of modifications you can make with CSS!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>
                <a:hlinkClick r:id="rId3"/>
              </a:rPr>
              <a:t>https://developer.mozilla.org/en-US/docs/Web/CSS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6FA43-BE3D-E798-B363-F515C2434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16" y="1795471"/>
            <a:ext cx="9623604" cy="859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C2A5E0-97C6-5A8B-79A2-16D858469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437" y="2652383"/>
            <a:ext cx="6840150" cy="128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BC814C-F813-82B6-AA88-59A363B740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641" y="2726477"/>
            <a:ext cx="5056116" cy="27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8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2B99C-0300-82EE-3D12-7334A6B59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00B22BE-3051-9FCB-1A70-294C98A279A3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Exercise 1: Get a basic webpage running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A47A675-61D4-711E-AB9F-ED4EF2107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5604203" cy="5773646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Setup: Download lec03_exercise.zip  from </a:t>
            </a:r>
            <a:r>
              <a:rPr lang="en-US" dirty="0" err="1"/>
              <a:t>Courseworks</a:t>
            </a:r>
            <a:r>
              <a:rPr lang="en-US" dirty="0"/>
              <a:t> and unzip 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a terminal window inside that unzipped folder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Windows: shift + right-click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Open in </a:t>
            </a:r>
            <a:r>
              <a:rPr lang="en-US" dirty="0" err="1"/>
              <a:t>Powershell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Mac: right-click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New Terminal at Folder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Run this command: </a:t>
            </a:r>
            <a:r>
              <a:rPr lang="en-US" dirty="0">
                <a:latin typeface="Consolas" panose="020B0609020204030204" pitchFamily="49" charset="0"/>
              </a:rPr>
              <a:t>python -m </a:t>
            </a:r>
            <a:r>
              <a:rPr lang="en-US" dirty="0" err="1">
                <a:latin typeface="Consolas" panose="020B0609020204030204" pitchFamily="49" charset="0"/>
              </a:rPr>
              <a:t>http.server</a:t>
            </a:r>
            <a:r>
              <a:rPr lang="en-US" dirty="0">
                <a:latin typeface="Consolas" panose="020B0609020204030204" pitchFamily="49" charset="0"/>
              </a:rPr>
              <a:t> 8000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Might need to do </a:t>
            </a:r>
            <a:r>
              <a:rPr lang="en-US" dirty="0">
                <a:latin typeface="Consolas" panose="020B0609020204030204" pitchFamily="49" charset="0"/>
              </a:rPr>
              <a:t>python3 -m </a:t>
            </a:r>
            <a:r>
              <a:rPr lang="en-US" dirty="0" err="1">
                <a:latin typeface="Consolas" panose="020B0609020204030204" pitchFamily="49" charset="0"/>
              </a:rPr>
              <a:t>http.server</a:t>
            </a:r>
            <a:r>
              <a:rPr lang="en-US" dirty="0">
                <a:latin typeface="Consolas" panose="020B0609020204030204" pitchFamily="49" charset="0"/>
              </a:rPr>
              <a:t> 8000</a:t>
            </a:r>
            <a:r>
              <a:rPr lang="en-US" dirty="0"/>
              <a:t> instead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>
                <a:hlinkClick r:id="rId3"/>
              </a:rPr>
              <a:t>http://localhost:8000/hello.html</a:t>
            </a:r>
            <a:r>
              <a:rPr lang="en-US" dirty="0"/>
              <a:t> in your browser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You should see a blank page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9D76B-1C0C-79A2-6441-14FA5C944730}"/>
              </a:ext>
            </a:extLst>
          </p:cNvPr>
          <p:cNvSpPr txBox="1">
            <a:spLocks/>
          </p:cNvSpPr>
          <p:nvPr/>
        </p:nvSpPr>
        <p:spPr>
          <a:xfrm>
            <a:off x="6092092" y="905934"/>
            <a:ext cx="5862015" cy="57736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/>
              <a:t>In hello.html, between &lt;body&gt; and &lt;/body&gt;, add the following:</a:t>
            </a:r>
          </a:p>
          <a:p>
            <a:pPr lvl="1" algn="l"/>
            <a:r>
              <a:rPr lang="en-US" dirty="0">
                <a:latin typeface="Consolas" panose="020B0609020204030204" pitchFamily="49" charset="0"/>
              </a:rPr>
              <a:t>&lt;h1&gt;A header&lt;/h1&gt;</a:t>
            </a:r>
          </a:p>
          <a:p>
            <a:pPr lvl="1" algn="l"/>
            <a:r>
              <a:rPr lang="en-US" dirty="0">
                <a:latin typeface="Consolas" panose="020B0609020204030204" pitchFamily="49" charset="0"/>
              </a:rPr>
              <a:t>&lt;p class="</a:t>
            </a:r>
            <a:r>
              <a:rPr lang="en-US" dirty="0" err="1">
                <a:latin typeface="Consolas" panose="020B0609020204030204" pitchFamily="49" charset="0"/>
              </a:rPr>
              <a:t>lede</a:t>
            </a:r>
            <a:r>
              <a:rPr lang="en-US" dirty="0">
                <a:latin typeface="Consolas" panose="020B0609020204030204" pitchFamily="49" charset="0"/>
              </a:rPr>
              <a:t>"&gt;Some text&lt;/p&gt;</a:t>
            </a:r>
          </a:p>
          <a:p>
            <a:pPr lvl="1" algn="l"/>
            <a:r>
              <a:rPr lang="en-US" dirty="0">
                <a:solidFill>
                  <a:srgbClr val="1A1A1A"/>
                </a:solidFill>
                <a:latin typeface="Consolas"/>
              </a:rPr>
              <a:t>&lt;div id="chart"&gt;&lt;/div&gt;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1A1A1A"/>
                </a:solidFill>
              </a:rPr>
              <a:t>Reload the page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1A1A1A"/>
                </a:solidFill>
              </a:rPr>
              <a:t>Add this rule to the bottom of style.css:</a:t>
            </a:r>
          </a:p>
          <a:p>
            <a:pPr lvl="1" algn="l"/>
            <a:r>
              <a:rPr lang="en-US" dirty="0">
                <a:solidFill>
                  <a:srgbClr val="1A1A1A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A1A1A"/>
                </a:solidFill>
                <a:latin typeface="Consolas" panose="020B0609020204030204" pitchFamily="49" charset="0"/>
              </a:rPr>
              <a:t>lede</a:t>
            </a:r>
            <a:r>
              <a:rPr lang="en-US" dirty="0">
                <a:solidFill>
                  <a:srgbClr val="1A1A1A"/>
                </a:solidFill>
                <a:latin typeface="Consolas" panose="020B0609020204030204" pitchFamily="49" charset="0"/>
              </a:rPr>
              <a:t> { color: #2b5c8a; font-style: italic; }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1A1A1A"/>
                </a:solidFill>
              </a:rPr>
              <a:t>Reload. The &lt;p&gt; text should look different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pt-BR" dirty="0">
                <a:solidFill>
                  <a:srgbClr val="1A1A1A"/>
                </a:solidFill>
              </a:rPr>
              <a:t>F12 </a:t>
            </a:r>
            <a:r>
              <a:rPr lang="pt-BR" dirty="0">
                <a:solidFill>
                  <a:srgbClr val="1A1A1A"/>
                </a:solidFill>
                <a:sym typeface="Wingdings" panose="05000000000000000000" pitchFamily="2" charset="2"/>
              </a:rPr>
              <a:t></a:t>
            </a:r>
            <a:r>
              <a:rPr lang="pt-BR" dirty="0">
                <a:solidFill>
                  <a:srgbClr val="1A1A1A"/>
                </a:solidFill>
              </a:rPr>
              <a:t> Console:      </a:t>
            </a:r>
            <a:r>
              <a:rPr lang="pt-BR" dirty="0">
                <a:solidFill>
                  <a:srgbClr val="1A1A1A"/>
                </a:solidFill>
                <a:latin typeface="Consolas" panose="020B0609020204030204" pitchFamily="49" charset="0"/>
              </a:rPr>
              <a:t>document.querySelector("h1").textContent = "Hi"</a:t>
            </a:r>
            <a:r>
              <a:rPr lang="pt-BR" dirty="0">
                <a:solidFill>
                  <a:srgbClr val="1A1A1A"/>
                </a:solidFill>
              </a:rPr>
              <a:t> </a:t>
            </a:r>
            <a:endParaRPr lang="en-US" dirty="0">
              <a:solidFill>
                <a:srgbClr val="1A1A1A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417170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0EEF-9E20-5751-0DFB-B7F1084A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3BE0C2-87FC-33AD-75E2-8490DC0EB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93906"/>
          </a:xfrm>
          <a:prstGeom prst="rect">
            <a:avLst/>
          </a:prstGeom>
        </p:spPr>
      </p:pic>
      <p:sp>
        <p:nvSpPr>
          <p:cNvPr id="12" name="Google Shape;95;p18">
            <a:extLst>
              <a:ext uri="{FF2B5EF4-FFF2-40B4-BE49-F238E27FC236}">
                <a16:creationId xmlns:a16="http://schemas.microsoft.com/office/drawing/2014/main" id="{3360FDEF-FDA2-4D03-B9BF-739B86ADCC2B}"/>
              </a:ext>
            </a:extLst>
          </p:cNvPr>
          <p:cNvSpPr txBox="1">
            <a:spLocks/>
          </p:cNvSpPr>
          <p:nvPr/>
        </p:nvSpPr>
        <p:spPr>
          <a:xfrm>
            <a:off x="1206800" y="2365600"/>
            <a:ext cx="9778400" cy="21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2"/>
                </a:solidFill>
              </a:rPr>
              <a:t>JavaScript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178F604-1928-D0C3-3132-DA7663E5D4A0}"/>
              </a:ext>
            </a:extLst>
          </p:cNvPr>
          <p:cNvSpPr txBox="1">
            <a:spLocks/>
          </p:cNvSpPr>
          <p:nvPr/>
        </p:nvSpPr>
        <p:spPr>
          <a:xfrm>
            <a:off x="1524000" y="4267560"/>
            <a:ext cx="9144000" cy="13146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84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5E137-6582-51EB-D3EF-64ED1D14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D2ABC62-0B8A-E952-AEBB-93AE3C084448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JavaScript (JS)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C1457D7-E88F-7439-664C-A810B074F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Most of what you learned from other programming courses applies to JavaScript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There may be subtle language-dependent differences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55820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E6CF2-D303-B5EE-068B-43F3B517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BF70A6-B5A0-500A-1A47-9DC465332850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JavaScript (JS): Variables</a:t>
            </a:r>
            <a:endParaRPr lang="en-PT" sz="4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790C9-604F-263B-7A7C-CB2410F57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95" y="758091"/>
            <a:ext cx="11789010" cy="436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EE3A-386C-CA1A-2E45-D1DF7174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A35E1E-606A-762E-BD0A-7E36274E0ACD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JavaScript (JS): Arrays and Objects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A388E1-CE8F-095A-12B8-AD8E7C66B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Your datasets will be arrays of objects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919C6-4836-38E3-2235-04C5994A5C2B}"/>
              </a:ext>
            </a:extLst>
          </p:cNvPr>
          <p:cNvSpPr txBox="1"/>
          <p:nvPr/>
        </p:nvSpPr>
        <p:spPr>
          <a:xfrm>
            <a:off x="8114714" y="631614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</a:rPr>
              <a:t>sandwiches.csv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CF2883-D983-F793-150E-9BA6053F2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848123"/>
              </p:ext>
            </p:extLst>
          </p:nvPr>
        </p:nvGraphicFramePr>
        <p:xfrm>
          <a:off x="8114714" y="905934"/>
          <a:ext cx="37490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sz="1200" b="1"/>
                        <a:t>name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 b="1"/>
                        <a:t>price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 b="1"/>
                        <a:t>size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00" b="0"/>
                        <a:t>Thesis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7.95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 b="0"/>
                        <a:t>large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00" b="0" dirty="0"/>
                        <a:t>Special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12.50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small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739D0F6-A75F-583C-5A2E-95AC1C30E835}"/>
              </a:ext>
            </a:extLst>
          </p:cNvPr>
          <p:cNvSpPr txBox="1"/>
          <p:nvPr/>
        </p:nvSpPr>
        <p:spPr>
          <a:xfrm>
            <a:off x="8114714" y="2027572"/>
            <a:ext cx="391745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600" b="1" i="0" dirty="0"/>
              <a:t>O</a:t>
            </a:r>
            <a:r>
              <a:rPr sz="1600" b="1" i="0" dirty="0"/>
              <a:t>ne object per row, one property per column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C231B45-CF6F-78BC-1A10-01F4C43DE83D}"/>
              </a:ext>
            </a:extLst>
          </p:cNvPr>
          <p:cNvSpPr/>
          <p:nvPr/>
        </p:nvSpPr>
        <p:spPr>
          <a:xfrm>
            <a:off x="8114714" y="2393332"/>
            <a:ext cx="3794760" cy="84052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000" dirty="0">
                <a:solidFill>
                  <a:srgbClr val="1A1A1A"/>
                </a:solidFill>
                <a:latin typeface="Consolas"/>
              </a:rPr>
              <a:t>[</a:t>
            </a:r>
          </a:p>
          <a:p>
            <a:r>
              <a:rPr sz="1000" dirty="0">
                <a:solidFill>
                  <a:srgbClr val="1A1A1A"/>
                </a:solidFill>
                <a:latin typeface="Consolas"/>
              </a:rPr>
              <a:t>  { name: "Thesis", price: 7.95, size: "large" },</a:t>
            </a:r>
          </a:p>
          <a:p>
            <a:r>
              <a:rPr sz="1000" dirty="0">
                <a:solidFill>
                  <a:srgbClr val="1A1A1A"/>
                </a:solidFill>
                <a:latin typeface="Consolas"/>
              </a:rPr>
              <a:t>  { name: "Special", price: 12.5, size: "small" }</a:t>
            </a:r>
          </a:p>
          <a:p>
            <a:r>
              <a:rPr sz="1000" dirty="0">
                <a:solidFill>
                  <a:srgbClr val="1A1A1A"/>
                </a:solidFill>
                <a:latin typeface="Consolas"/>
              </a:rPr>
              <a:t>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623857-2E2A-D2A5-E5EE-6003503F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" y="1319082"/>
            <a:ext cx="8040504" cy="54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8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CAB5-54C2-A395-97D5-165CDB65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66927D7-83B9-69EF-BD4D-706424790299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JavaScript (JS): Functions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BAD3AA2-E32B-7701-61A2-027D7AD90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Functions are vital for your visualizations</a:t>
            </a:r>
            <a:endParaRPr lang="en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31F78-B1AF-DB22-D92A-1AFA7C424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68" y="1285630"/>
            <a:ext cx="10451648" cy="55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2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9D47-4695-2C6E-DAEF-1B6198A5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F565A9C-F9AD-2F82-F394-158BF1527F31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JavaScript (JS): </a:t>
            </a:r>
            <a:r>
              <a:rPr lang="en-US" sz="4400" b="1" dirty="0">
                <a:latin typeface="Consolas" panose="020B0609020204030204" pitchFamily="49" charset="0"/>
              </a:rPr>
              <a:t>map, filter, sort, </a:t>
            </a:r>
            <a:r>
              <a:rPr lang="en-US" sz="4400" b="1" dirty="0" err="1">
                <a:latin typeface="Consolas" panose="020B0609020204030204" pitchFamily="49" charset="0"/>
              </a:rPr>
              <a:t>forEach</a:t>
            </a:r>
            <a:endParaRPr lang="en-PT" sz="4400" b="1" dirty="0">
              <a:latin typeface="Consolas" panose="020B0609020204030204" pitchFamily="49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F22E2E4-0A3C-6393-5085-4AE82EE0B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Extremely common operators in D3</a:t>
            </a:r>
            <a:endParaRPr lang="en-PT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F380DF-4E35-1049-B925-B2017BD5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19" y="1285630"/>
            <a:ext cx="11605519" cy="555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67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4AF9-3EEF-96E4-F16F-98C190456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3B0FF8-B114-6045-AF60-9574944FDF1C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JavaScript (JS) can be weird!</a:t>
            </a:r>
            <a:endParaRPr lang="en-PT" sz="4400" b="1" dirty="0">
              <a:latin typeface="Consolas" panose="020B0609020204030204" pitchFamily="49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CE83E2E-EDB0-0CDC-5618-567712154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=== vs ==	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== does type coercion (changes the types of the arguments)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Always use === and !==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Reading from a file </a:t>
            </a:r>
            <a:r>
              <a:rPr lang="en-US" dirty="0">
                <a:sym typeface="Wingdings" panose="05000000000000000000" pitchFamily="2" charset="2"/>
              </a:rPr>
              <a:t> data loaded as strings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Need to convert your data into the appropriate type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.sort()</a:t>
            </a:r>
            <a:r>
              <a:rPr lang="en-US" dirty="0"/>
              <a:t> with no arguments sorts alphabetically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Will convert your numbers to strings!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[1, 10, 2]</a:t>
            </a:r>
            <a:r>
              <a:rPr lang="en-US" dirty="0"/>
              <a:t> becomes </a:t>
            </a:r>
            <a:r>
              <a:rPr lang="en-US" dirty="0">
                <a:latin typeface="Consolas" panose="020B0609020204030204" pitchFamily="49" charset="0"/>
              </a:rPr>
              <a:t>["1", "10", "2"]</a:t>
            </a:r>
            <a:r>
              <a:rPr lang="en-US" dirty="0"/>
              <a:t> for comparison purposes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The 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"false"</a:t>
            </a:r>
            <a:r>
              <a:rPr lang="en-US" dirty="0"/>
              <a:t> is true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Boolean()</a:t>
            </a:r>
            <a:r>
              <a:rPr lang="en-US" dirty="0"/>
              <a:t> on a string only checks if the string is empty or not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367812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2F9BD-8BCB-B0DB-2748-D1A9A816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4C9DC8A-334B-F340-4BB0-D8DA9A7FE0AC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Exercise 2: Sandwich dataset </a:t>
            </a:r>
            <a:endParaRPr lang="en-PT" sz="4400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9F9D28F-18A6-B2DF-B76D-23A6FD91C1E6}"/>
              </a:ext>
            </a:extLst>
          </p:cNvPr>
          <p:cNvSpPr txBox="1">
            <a:spLocks/>
          </p:cNvSpPr>
          <p:nvPr/>
        </p:nvSpPr>
        <p:spPr>
          <a:xfrm>
            <a:off x="6190261" y="905934"/>
            <a:ext cx="5763846" cy="57736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Write JavaScript code to do the following: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Get an array of the names of all the large sandwiches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Do it in one line, with 2 chained methods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Compute the average price of all sandwiches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Print every sandwich, most expensive one first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/>
          </a:p>
          <a:p>
            <a:pPr algn="l"/>
            <a:r>
              <a:rPr lang="en-US" dirty="0"/>
              <a:t>Hints: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filter then map; sort accepts (a, b)</a:t>
            </a:r>
            <a:endParaRPr lang="en-PT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4CF0593-962F-50F7-1964-389CAF39F03D}"/>
              </a:ext>
            </a:extLst>
          </p:cNvPr>
          <p:cNvSpPr txBox="1">
            <a:spLocks/>
          </p:cNvSpPr>
          <p:nvPr/>
        </p:nvSpPr>
        <p:spPr>
          <a:xfrm>
            <a:off x="328246" y="905934"/>
            <a:ext cx="5763846" cy="5773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Setup: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>
                <a:hlinkClick r:id="rId3"/>
              </a:rPr>
              <a:t>http://localhost:8000/index.html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the console and paste the following in the console: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// it's in main.js too, as a comment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const sandwiches = [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{ name: "Thesis",       price: 7.95,  size: "large" },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{ name: "Dissertation", price: 8.95,  size: "large" },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{ name: "Highlander",   price: 6.50,  size: "small" },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{ name: "Just Tuna",    price: 6.50,  size: "small" },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{ name: "So-La",        price: 7.95,  size: "large" },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{ name: "Special",      price: 12.50, size: "small" }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];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08303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CACE-E056-432A-30D3-EB7FD365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42E1E1-CF38-7F86-4952-3AB7F5FE7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93906"/>
          </a:xfrm>
          <a:prstGeom prst="rect">
            <a:avLst/>
          </a:prstGeom>
        </p:spPr>
      </p:pic>
      <p:sp>
        <p:nvSpPr>
          <p:cNvPr id="12" name="Google Shape;95;p18">
            <a:extLst>
              <a:ext uri="{FF2B5EF4-FFF2-40B4-BE49-F238E27FC236}">
                <a16:creationId xmlns:a16="http://schemas.microsoft.com/office/drawing/2014/main" id="{40E71A55-5EAD-0A8E-DD7F-E90B8B83C0EE}"/>
              </a:ext>
            </a:extLst>
          </p:cNvPr>
          <p:cNvSpPr txBox="1">
            <a:spLocks/>
          </p:cNvSpPr>
          <p:nvPr/>
        </p:nvSpPr>
        <p:spPr>
          <a:xfrm>
            <a:off x="1206800" y="2365600"/>
            <a:ext cx="9778400" cy="21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2"/>
                </a:solidFill>
              </a:rPr>
              <a:t>SVGs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F9BDA49-DC19-FC5F-59BF-8FD3DD6FC767}"/>
              </a:ext>
            </a:extLst>
          </p:cNvPr>
          <p:cNvSpPr txBox="1">
            <a:spLocks/>
          </p:cNvSpPr>
          <p:nvPr/>
        </p:nvSpPr>
        <p:spPr>
          <a:xfrm>
            <a:off x="1524000" y="4267560"/>
            <a:ext cx="9144000" cy="13146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83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370A-A63C-7F4E-281F-16967115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3730A9-5B5C-9505-B46F-AF19B898172B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SVG (Scalable Vector Graphics)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4B7DB36-A049-5931-E5D6-DACB3CE04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way to draw shapes on the web.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 kind of language, details don't really matter for this class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96810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3BED7-9940-1916-7003-7381C6B1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049E04-1D43-174D-0BE1-BCEAABEF1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57" y="50667"/>
            <a:ext cx="9192485" cy="50933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13FA642-0982-D838-3493-EDD75EE4F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550" y="5342681"/>
            <a:ext cx="9578897" cy="154877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5975053-10A7-F1D9-5D6B-B4A278182584}"/>
              </a:ext>
            </a:extLst>
          </p:cNvPr>
          <p:cNvSpPr txBox="1"/>
          <p:nvPr/>
        </p:nvSpPr>
        <p:spPr>
          <a:xfrm>
            <a:off x="535259" y="5034106"/>
            <a:ext cx="916629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latin typeface="Consolas"/>
              </a:rPr>
              <a:t>(0,0)</a:t>
            </a:r>
          </a:p>
        </p:txBody>
      </p:sp>
      <p:cxnSp>
        <p:nvCxnSpPr>
          <p:cNvPr id="33" name="Connector 12">
            <a:extLst>
              <a:ext uri="{FF2B5EF4-FFF2-40B4-BE49-F238E27FC236}">
                <a16:creationId xmlns:a16="http://schemas.microsoft.com/office/drawing/2014/main" id="{987A6741-47F5-BC79-29E6-251B5114B9AE}"/>
              </a:ext>
            </a:extLst>
          </p:cNvPr>
          <p:cNvCxnSpPr/>
          <p:nvPr/>
        </p:nvCxnSpPr>
        <p:spPr>
          <a:xfrm>
            <a:off x="1337030" y="5276756"/>
            <a:ext cx="1097280" cy="0"/>
          </a:xfrm>
          <a:prstGeom prst="line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2E2F937-0888-E7F9-0040-26D559C5C4C1}"/>
              </a:ext>
            </a:extLst>
          </p:cNvPr>
          <p:cNvSpPr txBox="1"/>
          <p:nvPr/>
        </p:nvSpPr>
        <p:spPr>
          <a:xfrm>
            <a:off x="2495268" y="5054455"/>
            <a:ext cx="2743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latin typeface="Consolas"/>
              </a:rPr>
              <a:t>x</a:t>
            </a:r>
          </a:p>
        </p:txBody>
      </p:sp>
      <p:cxnSp>
        <p:nvCxnSpPr>
          <p:cNvPr id="35" name="Connector 14">
            <a:extLst>
              <a:ext uri="{FF2B5EF4-FFF2-40B4-BE49-F238E27FC236}">
                <a16:creationId xmlns:a16="http://schemas.microsoft.com/office/drawing/2014/main" id="{B4ECCE0B-19A6-6892-469E-946D84C67A70}"/>
              </a:ext>
            </a:extLst>
          </p:cNvPr>
          <p:cNvCxnSpPr/>
          <p:nvPr/>
        </p:nvCxnSpPr>
        <p:spPr>
          <a:xfrm>
            <a:off x="1245591" y="5368197"/>
            <a:ext cx="0" cy="822960"/>
          </a:xfrm>
          <a:prstGeom prst="line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76D6A42-66E3-C805-1805-713D39C8F51F}"/>
              </a:ext>
            </a:extLst>
          </p:cNvPr>
          <p:cNvSpPr txBox="1"/>
          <p:nvPr/>
        </p:nvSpPr>
        <p:spPr>
          <a:xfrm>
            <a:off x="1108431" y="6156721"/>
            <a:ext cx="2743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latin typeface="Consolas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97887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0FF8-A5B9-AEAC-1D07-2332C360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91FE3A7-63D3-7A69-683F-FBA6B1487422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SVG (Scalable Vector Graphics)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AD91D16-8332-9964-4BB8-0552FDE62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way to draw shapes on the web.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 kind of language, details don't really matter for this class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Shapes available: </a:t>
            </a:r>
            <a:r>
              <a:rPr lang="en-US" dirty="0" err="1">
                <a:latin typeface="Consolas" panose="020B0609020204030204" pitchFamily="49" charset="0"/>
              </a:rPr>
              <a:t>rect</a:t>
            </a:r>
            <a:r>
              <a:rPr lang="en-US" dirty="0">
                <a:latin typeface="Consolas" panose="020B0609020204030204" pitchFamily="49" charset="0"/>
              </a:rPr>
              <a:t>, circle, ellipse, line, text, path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Example appearance modifiers: </a:t>
            </a:r>
            <a:r>
              <a:rPr lang="en-US" dirty="0">
                <a:latin typeface="Consolas" panose="020B0609020204030204" pitchFamily="49" charset="0"/>
              </a:rPr>
              <a:t>fill, stroke-width, opacity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And more, check documentation/google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Similar to CSS, but we will modify them as attributes associated with objects, using JavaScript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79343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E971-733F-9806-7DB0-4ECA1F9C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C18626-4917-FCF7-A17B-1C0A545EF2C1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SVG groups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0CA3171-2A29-B5B8-2A78-80515DC4D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Groups allow you to modify multiple elements at once</a:t>
            </a:r>
            <a:endParaRPr lang="en-P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D3F7F-4D9D-3124-0C6F-6DAE47ADC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61" y="1364829"/>
            <a:ext cx="10061343" cy="2540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26F7F-315E-E844-C818-9D63AAD06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279" y="3979596"/>
            <a:ext cx="4595626" cy="286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66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CAB8-4C1D-04FF-FDED-3736D4A6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BFB606E-7FEA-5B93-65E7-1322D1D7054A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Exercise 3: Drawing with SVGs</a:t>
            </a:r>
            <a:endParaRPr lang="en-PT" sz="4400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937CB0-061C-8398-DB1C-49EA71D1C8FC}"/>
              </a:ext>
            </a:extLst>
          </p:cNvPr>
          <p:cNvSpPr txBox="1">
            <a:spLocks/>
          </p:cNvSpPr>
          <p:nvPr/>
        </p:nvSpPr>
        <p:spPr>
          <a:xfrm>
            <a:off x="6190261" y="905934"/>
            <a:ext cx="5763846" cy="57736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Then, F12 </a:t>
            </a:r>
            <a:r>
              <a:rPr lang="en-US" dirty="0">
                <a:sym typeface="Wingdings" panose="05000000000000000000" pitchFamily="2" charset="2"/>
              </a:rPr>
              <a:t> Elements (Inspector on Firefox)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Find the &lt;circle&gt;. Double-click </a:t>
            </a:r>
            <a:r>
              <a:rPr lang="en-US" dirty="0" err="1"/>
              <a:t>cx's</a:t>
            </a:r>
            <a:r>
              <a:rPr lang="en-US" dirty="0"/>
              <a:t> value. Type 300.  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Double-click the </a:t>
            </a:r>
            <a:r>
              <a:rPr lang="en-US" dirty="0" err="1"/>
              <a:t>rect's</a:t>
            </a:r>
            <a:r>
              <a:rPr lang="en-US" dirty="0"/>
              <a:t> fill. Type orange.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Reload. What happened and why?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This is basically how D3 works!</a:t>
            </a:r>
            <a:endParaRPr lang="en-PT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204F671-8F96-4106-1C62-64DDA9A04DC5}"/>
              </a:ext>
            </a:extLst>
          </p:cNvPr>
          <p:cNvSpPr txBox="1">
            <a:spLocks/>
          </p:cNvSpPr>
          <p:nvPr/>
        </p:nvSpPr>
        <p:spPr>
          <a:xfrm>
            <a:off x="328246" y="905934"/>
            <a:ext cx="5763846" cy="5773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Setup: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>
                <a:hlinkClick r:id="rId3"/>
              </a:rPr>
              <a:t>http://localhost:8000/svg.html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Should see an empty box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Paste the following inside the &lt;</a:t>
            </a:r>
            <a:r>
              <a:rPr lang="en-US" dirty="0" err="1"/>
              <a:t>svg</a:t>
            </a:r>
            <a:r>
              <a:rPr lang="en-US" dirty="0"/>
              <a:t>&gt; element:</a:t>
            </a:r>
          </a:p>
          <a:p>
            <a:pPr algn="l"/>
            <a:r>
              <a:rPr lang="en-US" sz="1600" dirty="0">
                <a:solidFill>
                  <a:srgbClr val="1A1A1A"/>
                </a:solidFill>
                <a:latin typeface="Consolas"/>
              </a:rPr>
              <a:t>&lt;</a:t>
            </a:r>
            <a:r>
              <a:rPr lang="en-US" sz="1600" dirty="0" err="1">
                <a:solidFill>
                  <a:srgbClr val="1A1A1A"/>
                </a:solidFill>
                <a:latin typeface="Consolas"/>
              </a:rPr>
              <a:t>rect</a:t>
            </a:r>
            <a:r>
              <a:rPr lang="en-US" sz="1600" dirty="0">
                <a:solidFill>
                  <a:srgbClr val="1A1A1A"/>
                </a:solidFill>
                <a:latin typeface="Consolas"/>
              </a:rPr>
              <a:t> x="10" y="10" width="60" height="100" fill="#2b5c8a"/&gt;</a:t>
            </a:r>
          </a:p>
          <a:p>
            <a:pPr algn="l"/>
            <a:r>
              <a:rPr lang="en-US" sz="1600" dirty="0">
                <a:solidFill>
                  <a:srgbClr val="1A1A1A"/>
                </a:solidFill>
                <a:latin typeface="Consolas"/>
              </a:rPr>
              <a:t>&lt;circle cx="130" cy="60" r="40" fill="#3f7d4e"/&gt;</a:t>
            </a:r>
          </a:p>
          <a:p>
            <a:pPr algn="l"/>
            <a:r>
              <a:rPr lang="en-US" sz="1600" dirty="0">
                <a:solidFill>
                  <a:srgbClr val="1A1A1A"/>
                </a:solidFill>
                <a:latin typeface="Consolas"/>
              </a:rPr>
              <a:t>&lt;line x1="200" y1="20" x2="260" y2="100" stroke="#c1533c" stroke-width="4"/&gt;</a:t>
            </a:r>
          </a:p>
          <a:p>
            <a:pPr algn="l"/>
            <a:r>
              <a:rPr lang="en-US" sz="1600" dirty="0">
                <a:solidFill>
                  <a:srgbClr val="1A1A1A"/>
                </a:solidFill>
                <a:latin typeface="Consolas"/>
              </a:rPr>
              <a:t>&lt;text x="290" y="66" font-size="20"&gt;SVG text&lt;/text&gt;</a:t>
            </a:r>
            <a:endParaRPr lang="en-US" sz="1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Reload the page</a:t>
            </a:r>
            <a:endParaRPr lang="en-US" sz="1400" dirty="0">
              <a:solidFill>
                <a:srgbClr val="1A1A1A"/>
              </a:solidFill>
              <a:latin typeface="Consola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210355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2B54-0B6F-521B-945E-EAC43717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CBC54-1BA9-076A-EC7D-34C8F7476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93906"/>
          </a:xfrm>
          <a:prstGeom prst="rect">
            <a:avLst/>
          </a:prstGeom>
        </p:spPr>
      </p:pic>
      <p:sp>
        <p:nvSpPr>
          <p:cNvPr id="12" name="Google Shape;95;p18">
            <a:extLst>
              <a:ext uri="{FF2B5EF4-FFF2-40B4-BE49-F238E27FC236}">
                <a16:creationId xmlns:a16="http://schemas.microsoft.com/office/drawing/2014/main" id="{1C6D7B5B-5E8F-EC7A-1BC7-9EF76542318C}"/>
              </a:ext>
            </a:extLst>
          </p:cNvPr>
          <p:cNvSpPr txBox="1">
            <a:spLocks/>
          </p:cNvSpPr>
          <p:nvPr/>
        </p:nvSpPr>
        <p:spPr>
          <a:xfrm>
            <a:off x="1206800" y="2365600"/>
            <a:ext cx="9778400" cy="21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2"/>
                </a:solidFill>
              </a:rPr>
              <a:t>D3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564D558-B7DB-D9DF-7E77-53E202109781}"/>
              </a:ext>
            </a:extLst>
          </p:cNvPr>
          <p:cNvSpPr txBox="1">
            <a:spLocks/>
          </p:cNvSpPr>
          <p:nvPr/>
        </p:nvSpPr>
        <p:spPr>
          <a:xfrm>
            <a:off x="1524000" y="4267560"/>
            <a:ext cx="9144000" cy="13146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504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F584-710B-4E58-0F59-FB41B147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D886328-E575-FCB7-5528-47F6C6FF8C30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D3	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C9F50AC-10DE-DEAA-8C58-A8E20DB79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D3 is basically a very powerful custom drawing + data processing library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allows us to build charts from very low-level, individual components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If you want to make a bar chart, you must draw the rectangles yourself (using D3)!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Resources: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https://d3js.org/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https://www.d3indepth.com/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9A5CA1-86D7-EF92-5BFA-47B071455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02" y="2266181"/>
            <a:ext cx="11610304" cy="120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14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EA3C-300D-0339-D02C-2624527E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277C70-A7A9-9119-B589-9DA831296C12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72622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D3: select, append, text, </a:t>
            </a:r>
            <a:r>
              <a:rPr lang="en-US" sz="4400" b="1" dirty="0" err="1"/>
              <a:t>attr</a:t>
            </a:r>
            <a:r>
              <a:rPr lang="en-US" sz="4400" b="1" dirty="0"/>
              <a:t>, style, method chaining</a:t>
            </a:r>
            <a:endParaRPr lang="en-PT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92DD7-7900-D435-CA44-4BC51834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7619" y="856492"/>
            <a:ext cx="7895525" cy="407234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51DF4A7-C0D0-D3BD-6DC4-8638731D9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4199"/>
              </p:ext>
            </p:extLst>
          </p:nvPr>
        </p:nvGraphicFramePr>
        <p:xfrm>
          <a:off x="7307906" y="856492"/>
          <a:ext cx="4884094" cy="433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612">
                <a:tc>
                  <a:txBody>
                    <a:bodyPr/>
                    <a:lstStyle/>
                    <a:p>
                      <a:r>
                        <a:rPr sz="2000" b="1" dirty="0"/>
                        <a:t>Operator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What it does to the tree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2000" b="1" dirty="0"/>
                        <a:t>Returns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612">
                <a:tc>
                  <a:txBody>
                    <a:bodyPr/>
                    <a:lstStyle/>
                    <a:p>
                      <a:r>
                        <a:rPr sz="1400" b="0">
                          <a:latin typeface="Consolas"/>
                        </a:rPr>
                        <a:t>d3.select(sel)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find the </a:t>
                      </a:r>
                      <a:r>
                        <a:rPr sz="1400" b="0" i="1" dirty="0"/>
                        <a:t>first</a:t>
                      </a:r>
                      <a:r>
                        <a:rPr sz="1400" b="0" dirty="0"/>
                        <a:t> element matching a CSS selector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a selection of it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612">
                <a:tc>
                  <a:txBody>
                    <a:bodyPr/>
                    <a:lstStyle/>
                    <a:p>
                      <a:r>
                        <a:rPr sz="1400" b="0">
                          <a:latin typeface="Consolas"/>
                        </a:rPr>
                        <a:t>d3.selectAll(sel)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find </a:t>
                      </a:r>
                      <a:r>
                        <a:rPr sz="1400" b="0" i="1" dirty="0"/>
                        <a:t>all</a:t>
                      </a:r>
                      <a:r>
                        <a:rPr sz="1400" b="0" dirty="0"/>
                        <a:t> matching elements </a:t>
                      </a:r>
                      <a:r>
                        <a:rPr lang="en-US" sz="1400" b="0" dirty="0"/>
                        <a:t>(</a:t>
                      </a:r>
                      <a:r>
                        <a:rPr sz="1400" b="0" dirty="0"/>
                        <a:t>possibly none</a:t>
                      </a:r>
                      <a:r>
                        <a:rPr lang="en-US" sz="1400" b="0" dirty="0"/>
                        <a:t>)</a:t>
                      </a:r>
                      <a:endParaRPr sz="1400" b="0" dirty="0"/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a selection of them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254">
                <a:tc>
                  <a:txBody>
                    <a:bodyPr/>
                    <a:lstStyle/>
                    <a:p>
                      <a:r>
                        <a:rPr sz="1400" b="0" dirty="0">
                          <a:latin typeface="Consolas"/>
                        </a:rPr>
                        <a:t>.append("tag")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make a new child element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a selection of the new</a:t>
                      </a:r>
                      <a:r>
                        <a:rPr lang="en-US" sz="1400" b="0" dirty="0"/>
                        <a:t>ly added</a:t>
                      </a:r>
                      <a:r>
                        <a:rPr sz="1400" b="0" dirty="0"/>
                        <a:t> element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612">
                <a:tc>
                  <a:txBody>
                    <a:bodyPr/>
                    <a:lstStyle/>
                    <a:p>
                      <a:r>
                        <a:rPr sz="1400" b="0">
                          <a:latin typeface="Consolas"/>
                        </a:rPr>
                        <a:t>.attr(name, value)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set an attribute: </a:t>
                      </a:r>
                      <a:r>
                        <a:rPr sz="1400" b="0">
                          <a:latin typeface="Consolas"/>
                        </a:rPr>
                        <a:t>cx</a:t>
                      </a:r>
                      <a:r>
                        <a:rPr sz="1400" b="0"/>
                        <a:t>, </a:t>
                      </a:r>
                      <a:r>
                        <a:rPr sz="1400" b="0">
                          <a:latin typeface="Consolas"/>
                        </a:rPr>
                        <a:t>r</a:t>
                      </a:r>
                      <a:r>
                        <a:rPr sz="1400" b="0"/>
                        <a:t>, </a:t>
                      </a:r>
                      <a:r>
                        <a:rPr sz="1400" b="0">
                          <a:latin typeface="Consolas"/>
                        </a:rPr>
                        <a:t>fill</a:t>
                      </a:r>
                      <a:r>
                        <a:rPr sz="1400" b="0"/>
                        <a:t>, </a:t>
                      </a:r>
                      <a:r>
                        <a:rPr sz="1400" b="0">
                          <a:latin typeface="Consolas"/>
                        </a:rPr>
                        <a:t>class</a:t>
                      </a:r>
                      <a:r>
                        <a:rPr sz="1400" b="0"/>
                        <a:t> …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the same selection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612">
                <a:tc>
                  <a:txBody>
                    <a:bodyPr/>
                    <a:lstStyle/>
                    <a:p>
                      <a:r>
                        <a:rPr sz="1400" b="0">
                          <a:latin typeface="Consolas"/>
                        </a:rPr>
                        <a:t>.text(value)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set the content between the tags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the same selection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615">
                <a:tc>
                  <a:txBody>
                    <a:bodyPr/>
                    <a:lstStyle/>
                    <a:p>
                      <a:r>
                        <a:rPr sz="1400" b="0" dirty="0">
                          <a:latin typeface="Consolas"/>
                        </a:rPr>
                        <a:t>.style(prop, value)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/>
                        <a:t>set a CSS property inline</a:t>
                      </a:r>
                    </a:p>
                  </a:txBody>
                  <a:tcPr marL="58758" marR="58758" marT="29379" marB="29379"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the same selection</a:t>
                      </a:r>
                    </a:p>
                  </a:txBody>
                  <a:tcPr marL="58758" marR="58758" marT="29379" marB="2937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ubtitle 2">
            <a:extLst>
              <a:ext uri="{FF2B5EF4-FFF2-40B4-BE49-F238E27FC236}">
                <a16:creationId xmlns:a16="http://schemas.microsoft.com/office/drawing/2014/main" id="{897ED383-C079-E0A6-248C-068093088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5257311"/>
            <a:ext cx="11527692" cy="18288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Everything starts with d3 (the namespace where d3 functions live)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Each operator returns a selection, so you can chain operators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Make sure to indent under the element it applies to! Keeps you organized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883976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C1D41-8715-9FD4-05AA-5046BA84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615F8BF-3AA0-14E4-C254-9ED17E5B645D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D3: Data join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CEBA671-7725-F9C1-0578-0DA06BF2F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349" y="3844623"/>
            <a:ext cx="11527692" cy="246696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Consolas"/>
              </a:rPr>
              <a:t>selectAll</a:t>
            </a:r>
            <a:r>
              <a:rPr lang="en-US" dirty="0"/>
              <a:t> gets</a:t>
            </a:r>
            <a:r>
              <a:rPr lang="en-US" i="1" dirty="0"/>
              <a:t> the set of elements you are going to define</a:t>
            </a:r>
            <a:r>
              <a:rPr lang="en-US" dirty="0"/>
              <a:t> in the subsequent code. They don’t exist yet!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/>
              </a:rPr>
              <a:t>.data(</a:t>
            </a:r>
            <a:r>
              <a:rPr lang="en-US" dirty="0" err="1">
                <a:latin typeface="Consolas"/>
              </a:rPr>
              <a:t>arr</a:t>
            </a:r>
            <a:r>
              <a:rPr lang="en-US" dirty="0">
                <a:latin typeface="Consolas"/>
              </a:rPr>
              <a:t>)</a:t>
            </a:r>
            <a:r>
              <a:rPr lang="en-US" dirty="0"/>
              <a:t> declares how many elements there should be. </a:t>
            </a:r>
            <a:r>
              <a:rPr lang="en-US" dirty="0">
                <a:latin typeface="Consolas"/>
              </a:rPr>
              <a:t>.join("p")</a:t>
            </a:r>
            <a:r>
              <a:rPr lang="en-US" dirty="0"/>
              <a:t> creates the corresponding number of &lt;p&gt; elements.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Everything after </a:t>
            </a:r>
            <a:r>
              <a:rPr lang="en-US" dirty="0">
                <a:latin typeface="Consolas"/>
              </a:rPr>
              <a:t>.join()</a:t>
            </a:r>
            <a:r>
              <a:rPr lang="en-US" dirty="0"/>
              <a:t> runs once per element. No need to write a loop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0B50BB-A23B-B47B-864D-4347D4F30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70" y="1355102"/>
            <a:ext cx="3971544" cy="16582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8B4320-2FFA-7DF1-489E-EE86D133B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6" y="807360"/>
            <a:ext cx="8205459" cy="275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9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59CC-E1EE-2BB3-B651-FA3F2734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4AD31C-A36B-6B8B-ECED-BBBE4B891B15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Annotated example</a:t>
            </a:r>
            <a:endParaRPr lang="en-PT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B251D-ED56-D87E-637A-C0F2C46A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3" y="671759"/>
            <a:ext cx="8411749" cy="4944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7664D-D495-FCA7-17A0-B2FE3B95D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238" y="1110246"/>
            <a:ext cx="6348761" cy="137763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6838AABB-03C9-AA87-BC9B-68D68EAFF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5615924"/>
            <a:ext cx="11527692" cy="6956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Without specifying </a:t>
            </a:r>
            <a:r>
              <a:rPr lang="en-US" dirty="0">
                <a:latin typeface="Consolas"/>
              </a:rPr>
              <a:t>x</a:t>
            </a:r>
            <a:r>
              <a:rPr lang="en-US" dirty="0"/>
              <a:t>, all five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rects</a:t>
            </a:r>
            <a:r>
              <a:rPr lang="en-US" dirty="0"/>
              <a:t> land on (0,0), on top of each other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888587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4A76-F929-69AE-8478-B77F6BE3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A5E83FF-9012-D7A4-D94E-FAE4485C9BA0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/>
              <a:t>Exercise 4</a:t>
            </a:r>
            <a:endParaRPr lang="en-PT" sz="4400" b="1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5A4052-94C0-5A0E-E195-AF27A21E9D6A}"/>
              </a:ext>
            </a:extLst>
          </p:cNvPr>
          <p:cNvSpPr txBox="1">
            <a:spLocks/>
          </p:cNvSpPr>
          <p:nvPr/>
        </p:nvSpPr>
        <p:spPr>
          <a:xfrm>
            <a:off x="328246" y="905934"/>
            <a:ext cx="8581578" cy="5773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>
                <a:hlinkClick r:id="rId3"/>
              </a:rPr>
              <a:t>http://localhost:8000/index.html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Write this code in main.js: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// 1. HELLO - one line, reload, then look in Elements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d3.select("#circles").append("p").text("Hello, D3!");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// 2. ONE CIRCLE PER SANDWICH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svg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= d3.select("#circles").append("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svg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")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("width", 500)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("height", 100);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lang="en-US" sz="1400" dirty="0" err="1">
                <a:solidFill>
                  <a:srgbClr val="1A1A1A"/>
                </a:solidFill>
                <a:latin typeface="Consolas"/>
              </a:rPr>
              <a:t>svg.selectAll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("circle")                       // of the circles in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svg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(none yet)...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.data(sandwiches)                           // ...I want one per sandwich...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.join("circle")                             // ...make them. Then, per circle: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("cx", (d,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) =&gt; 50 +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* 80)        // position from </a:t>
            </a:r>
            <a:r>
              <a:rPr lang="en-US" sz="1400">
                <a:solidFill>
                  <a:srgbClr val="1A1A1A"/>
                </a:solidFill>
                <a:latin typeface="Consolas"/>
              </a:rPr>
              <a:t>the index</a:t>
            </a:r>
            <a:endParaRPr lang="en-US" sz="1400" dirty="0">
              <a:solidFill>
                <a:srgbClr val="1A1A1A"/>
              </a:solidFill>
              <a:latin typeface="Consolas"/>
            </a:endParaRP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("cy", 50)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("r", d =&gt;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d.size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=== "large" ? 20 : 10)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("fill", d =&gt;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d.price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&lt; 7 ? "#3f7d4e" : "#c1533c")</a:t>
            </a:r>
          </a:p>
          <a:p>
            <a:pPr algn="l"/>
            <a:r>
              <a:rPr lang="en-US" sz="1400" dirty="0">
                <a:solidFill>
                  <a:srgbClr val="1A1A1A"/>
                </a:solidFill>
                <a:latin typeface="Consolas"/>
              </a:rPr>
              <a:t>    .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attr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("stroke", "#333");</a:t>
            </a:r>
          </a:p>
          <a:p>
            <a:pPr algn="l"/>
            <a:endParaRPr lang="en-US" sz="1400" dirty="0">
              <a:solidFill>
                <a:srgbClr val="1A1A1A"/>
              </a:solidFill>
              <a:latin typeface="Consola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2E70E9C-2A7B-05BB-C127-9A3B9E501CB7}"/>
              </a:ext>
            </a:extLst>
          </p:cNvPr>
          <p:cNvSpPr txBox="1">
            <a:spLocks/>
          </p:cNvSpPr>
          <p:nvPr/>
        </p:nvSpPr>
        <p:spPr>
          <a:xfrm>
            <a:off x="5910146" y="178420"/>
            <a:ext cx="6177775" cy="31334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Then, modify the code to do the following: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Have a thicker outline on the large sandwich circles (use </a:t>
            </a:r>
            <a:r>
              <a:rPr lang="en-US" dirty="0">
                <a:latin typeface="Consolas" panose="020B0609020204030204" pitchFamily="49" charset="0"/>
              </a:rPr>
              <a:t>stroke-width</a:t>
            </a:r>
            <a:r>
              <a:rPr lang="en-US" dirty="0"/>
              <a:t> and a ternary operator)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Add a &lt;text&gt; under each circle with its name. </a:t>
            </a:r>
          </a:p>
          <a:p>
            <a:pPr lvl="1" algn="l"/>
            <a:r>
              <a:rPr lang="en-US" dirty="0"/>
              <a:t>Hint: use a second join on the same array</a:t>
            </a:r>
          </a:p>
          <a:p>
            <a:pPr lvl="1" algn="l"/>
            <a:r>
              <a:rPr lang="en-US" dirty="0" err="1">
                <a:solidFill>
                  <a:srgbClr val="263238"/>
                </a:solidFill>
                <a:latin typeface="Consolas"/>
              </a:rPr>
              <a:t>svg.selectAll</a:t>
            </a:r>
            <a:r>
              <a:rPr lang="en-US" dirty="0">
                <a:solidFill>
                  <a:srgbClr val="263238"/>
                </a:solidFill>
                <a:latin typeface="Consolas"/>
              </a:rPr>
              <a:t>("text")…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518334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D9D459-10C3-63E2-0EBA-16A453C9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B0D1A8-5100-B8B4-917E-D9743A746F90}"/>
              </a:ext>
            </a:extLst>
          </p:cNvPr>
          <p:cNvSpPr txBox="1">
            <a:spLocks/>
          </p:cNvSpPr>
          <p:nvPr/>
        </p:nvSpPr>
        <p:spPr>
          <a:xfrm>
            <a:off x="328246" y="12210"/>
            <a:ext cx="11527692" cy="745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err="1"/>
              <a:t>todo</a:t>
            </a:r>
            <a:endParaRPr lang="en-PT" sz="4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72D13AD-2061-F16F-C0C7-D1E39C9B5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6" y="905934"/>
            <a:ext cx="11527692" cy="466643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Todo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25548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5333</TotalTime>
  <Words>2389</Words>
  <Application>Microsoft Macintosh PowerPoint</Application>
  <PresentationFormat>Widescreen</PresentationFormat>
  <Paragraphs>288</Paragraphs>
  <Slides>32</Slides>
  <Notes>32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CS-GY 6313 B:  Information Visualization</dc:title>
  <dc:creator>Niall Luke Williams</dc:creator>
  <cp:lastModifiedBy>Niall Williams</cp:lastModifiedBy>
  <cp:revision>345</cp:revision>
  <dcterms:created xsi:type="dcterms:W3CDTF">2024-09-03T12:45:09Z</dcterms:created>
  <dcterms:modified xsi:type="dcterms:W3CDTF">2026-09-16T15:41:16Z</dcterms:modified>
</cp:coreProperties>
</file>